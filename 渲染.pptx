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583" r:id="rId3"/>
    <p:sldId id="585" r:id="rId4"/>
  </p:sldIdLst>
  <p:sldSz cx="12192000" cy="6858000"/>
  <p:notesSz cx="7103745" cy="10234295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4AB50C7-74A9-5543-9519-930A5656D672}">
          <p14:sldIdLst>
            <p14:sldId id="583"/>
            <p14:sldId id="5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14" userDrawn="1">
          <p15:clr>
            <a:srgbClr val="A4A3A4"/>
          </p15:clr>
        </p15:guide>
        <p15:guide id="2" pos="383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实 仇" initials="实" lastIdx="1" clrIdx="0"/>
  <p:cmAuthor id="771359727" name="." initials=".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00FFFF"/>
    <a:srgbClr val="FFFF00"/>
    <a:srgbClr val="00FF00"/>
    <a:srgbClr val="B6D4D4"/>
    <a:srgbClr val="EEDB8F"/>
    <a:srgbClr val="ECF40A"/>
    <a:srgbClr val="EFDC91"/>
    <a:srgbClr val="CAB979"/>
    <a:srgbClr val="FBE7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58" autoAdjust="0"/>
    <p:restoredTop sz="87687"/>
  </p:normalViewPr>
  <p:slideViewPr>
    <p:cSldViewPr snapToGrid="0" showGuides="1">
      <p:cViewPr varScale="1">
        <p:scale>
          <a:sx n="111" d="100"/>
          <a:sy n="111" d="100"/>
        </p:scale>
        <p:origin x="832" y="208"/>
      </p:cViewPr>
      <p:guideLst>
        <p:guide orient="horz" pos="1914"/>
        <p:guide pos="3832"/>
      </p:guideLst>
    </p:cSldViewPr>
  </p:slideViewPr>
  <p:notesTextViewPr>
    <p:cViewPr>
      <p:scale>
        <a:sx n="105" d="100"/>
        <a:sy n="10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50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24417" y="1341438"/>
            <a:ext cx="10972800" cy="4751387"/>
          </a:xfrm>
        </p:spPr>
        <p:txBody>
          <a:bodyPr/>
          <a:lstStyle/>
          <a:p>
            <a:pPr lvl="0"/>
            <a:r>
              <a:rPr lang="en-US" altLang="zh-CN" noProof="1"/>
              <a:t>Click to edit Master text styles</a:t>
            </a:r>
            <a:endParaRPr lang="en-US" altLang="zh-CN" noProof="1"/>
          </a:p>
          <a:p>
            <a:pPr lvl="1"/>
            <a:r>
              <a:rPr lang="en-US" altLang="zh-CN" noProof="1"/>
              <a:t>Second level</a:t>
            </a:r>
            <a:endParaRPr lang="en-US" altLang="zh-CN" noProof="1"/>
          </a:p>
          <a:p>
            <a:pPr lvl="2"/>
            <a:r>
              <a:rPr lang="en-US" altLang="zh-CN" noProof="1"/>
              <a:t>Third level</a:t>
            </a:r>
            <a:endParaRPr lang="en-US" altLang="zh-CN" noProof="1"/>
          </a:p>
          <a:p>
            <a:pPr lvl="3"/>
            <a:r>
              <a:rPr lang="en-US" altLang="zh-CN" noProof="1"/>
              <a:t>Fourth level</a:t>
            </a:r>
            <a:endParaRPr lang="en-US" altLang="zh-CN" noProof="1"/>
          </a:p>
          <a:p>
            <a:pPr lvl="4"/>
            <a:r>
              <a:rPr lang="en-US" altLang="zh-CN" noProof="1"/>
              <a:t>Fifth level</a:t>
            </a:r>
            <a:endParaRPr lang="en-US" noProof="1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527" y="0"/>
            <a:ext cx="10779556" cy="65795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b="0">
                <a:solidFill>
                  <a:srgbClr val="273D6F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35359" y="188640"/>
            <a:ext cx="11377263" cy="657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单击标题此处编辑母版标题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9E2F6B6-2E27-4705-9AC3-05B34F27164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1" Type="http://schemas.openxmlformats.org/officeDocument/2006/relationships/notesSlide" Target="../notesSlides/notesSlide1.xml"/><Relationship Id="rId50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9" Type="http://schemas.openxmlformats.org/officeDocument/2006/relationships/tags" Target="../tags/tag49.xml"/><Relationship Id="rId48" Type="http://schemas.openxmlformats.org/officeDocument/2006/relationships/tags" Target="../tags/tag48.xml"/><Relationship Id="rId47" Type="http://schemas.openxmlformats.org/officeDocument/2006/relationships/tags" Target="../tags/tag47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推流VS原生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35" y="-319405"/>
            <a:ext cx="8569960" cy="71774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37"/>
          <p:cNvSpPr/>
          <p:nvPr/>
        </p:nvSpPr>
        <p:spPr>
          <a:xfrm>
            <a:off x="3928745" y="3631565"/>
            <a:ext cx="7671435" cy="2805430"/>
          </a:xfrm>
          <a:prstGeom prst="roundRect">
            <a:avLst>
              <a:gd name="adj" fmla="val 6522"/>
            </a:avLst>
          </a:prstGeom>
          <a:solidFill>
            <a:srgbClr val="FAFBFC"/>
          </a:solidFill>
          <a:ln w="19050">
            <a:solidFill>
              <a:srgbClr val="1F6FEB"/>
            </a:solidFill>
            <a:prstDash val="lgDash"/>
          </a:ln>
        </p:spPr>
      </p:sp>
      <p:grpSp>
        <p:nvGrpSpPr>
          <p:cNvPr id="26" name="Group 26"/>
          <p:cNvGrpSpPr/>
          <p:nvPr>
            <p:custDataLst>
              <p:tags r:id="rId1"/>
            </p:custDataLst>
          </p:nvPr>
        </p:nvGrpSpPr>
        <p:grpSpPr>
          <a:xfrm rot="0">
            <a:off x="530860" y="4483100"/>
            <a:ext cx="2052955" cy="632460"/>
            <a:chOff x="803278" y="3357831"/>
            <a:chExt cx="2053268" cy="632150"/>
          </a:xfrm>
        </p:grpSpPr>
        <p:sp>
          <p:nvSpPr>
            <p:cNvPr id="18" name="Rectangle 18"/>
            <p:cNvSpPr/>
            <p:nvPr>
              <p:custDataLst>
                <p:tags r:id="rId2"/>
              </p:custDataLst>
            </p:nvPr>
          </p:nvSpPr>
          <p:spPr>
            <a:xfrm>
              <a:off x="803278" y="3357831"/>
              <a:ext cx="2053268" cy="632150"/>
            </a:xfrm>
            <a:prstGeom prst="roundRect">
              <a:avLst>
                <a:gd name="adj" fmla="val 4412"/>
              </a:avLst>
            </a:prstGeom>
            <a:solidFill>
              <a:srgbClr val="FAFBFC"/>
            </a:solidFill>
            <a:ln w="19050">
              <a:solidFill>
                <a:srgbClr val="1F6FEB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031081" y="3514725"/>
              <a:ext cx="300038" cy="276225"/>
              <a:chOff x="1031081" y="3514725"/>
              <a:chExt cx="300038" cy="276225"/>
            </a:xfrm>
          </p:grpSpPr>
          <p:sp>
            <p:nvSpPr>
              <p:cNvPr id="19" name="Freeform 19"/>
              <p:cNvSpPr/>
              <p:nvPr>
                <p:custDataLst>
                  <p:tags r:id="rId3"/>
                </p:custDataLst>
              </p:nvPr>
            </p:nvSpPr>
            <p:spPr>
              <a:xfrm>
                <a:off x="1031081" y="3514725"/>
                <a:ext cx="300038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200025">
                    <a:moveTo>
                      <a:pt x="0" y="16669"/>
                    </a:moveTo>
                    <a:cubicBezTo>
                      <a:pt x="0" y="7463"/>
                      <a:pt x="7463" y="0"/>
                      <a:pt x="16669" y="0"/>
                    </a:cubicBezTo>
                    <a:lnTo>
                      <a:pt x="283369" y="0"/>
                    </a:lnTo>
                    <a:cubicBezTo>
                      <a:pt x="292575" y="0"/>
                      <a:pt x="300038" y="7463"/>
                      <a:pt x="300038" y="16669"/>
                    </a:cubicBezTo>
                    <a:lnTo>
                      <a:pt x="300038" y="183356"/>
                    </a:lnTo>
                    <a:cubicBezTo>
                      <a:pt x="300038" y="192562"/>
                      <a:pt x="292575" y="200025"/>
                      <a:pt x="283369" y="200025"/>
                    </a:cubicBezTo>
                    <a:lnTo>
                      <a:pt x="16669" y="200025"/>
                    </a:lnTo>
                    <a:cubicBezTo>
                      <a:pt x="7463" y="200025"/>
                      <a:pt x="0" y="192562"/>
                      <a:pt x="0" y="183356"/>
                    </a:cubicBezTo>
                    <a:lnTo>
                      <a:pt x="0" y="16669"/>
                    </a:lnTo>
                  </a:path>
                </a:pathLst>
              </a:custGeom>
              <a:noFill/>
              <a:ln w="19050">
                <a:solidFill>
                  <a:srgbClr val="1F6FEB"/>
                </a:solidFill>
              </a:ln>
            </p:spPr>
          </p:sp>
          <p:sp>
            <p:nvSpPr>
              <p:cNvPr id="20" name="Freeform 20"/>
              <p:cNvSpPr/>
              <p:nvPr>
                <p:custDataLst>
                  <p:tags r:id="rId4"/>
                </p:custDataLst>
              </p:nvPr>
            </p:nvSpPr>
            <p:spPr>
              <a:xfrm>
                <a:off x="1097756" y="3781425"/>
                <a:ext cx="1666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9525">
                    <a:moveTo>
                      <a:pt x="0" y="0"/>
                    </a:move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1F6FEB"/>
                </a:solidFill>
              </a:ln>
            </p:spPr>
          </p:sp>
          <p:sp>
            <p:nvSpPr>
              <p:cNvPr id="21" name="Freeform 21"/>
              <p:cNvSpPr/>
              <p:nvPr>
                <p:custDataLst>
                  <p:tags r:id="rId5"/>
                </p:custDataLst>
              </p:nvPr>
            </p:nvSpPr>
            <p:spPr>
              <a:xfrm>
                <a:off x="1131094" y="3714750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1F6FEB"/>
                </a:solidFill>
              </a:ln>
            </p:spPr>
          </p:sp>
          <p:sp>
            <p:nvSpPr>
              <p:cNvPr id="4" name="Freeform 22"/>
              <p:cNvSpPr/>
              <p:nvPr>
                <p:custDataLst>
                  <p:tags r:id="rId6"/>
                </p:custDataLst>
              </p:nvPr>
            </p:nvSpPr>
            <p:spPr>
              <a:xfrm>
                <a:off x="1231106" y="3714750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1F6FEB"/>
                </a:solidFill>
              </a:ln>
            </p:spPr>
          </p:sp>
        </p:grpSp>
        <p:sp>
          <p:nvSpPr>
            <p:cNvPr id="24" name="TextBox 24"/>
            <p:cNvSpPr txBox="1"/>
            <p:nvPr>
              <p:custDataLst>
                <p:tags r:id="rId7"/>
              </p:custDataLst>
            </p:nvPr>
          </p:nvSpPr>
          <p:spPr>
            <a:xfrm>
              <a:off x="1474575" y="3474614"/>
              <a:ext cx="1301949" cy="3687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3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客户端</a:t>
              </a:r>
              <a:r>
                <a:rPr lang="en-US" altLang="zh-CN" sz="2400" b="1" dirty="0">
                  <a:solidFill>
                    <a:srgbClr val="1F23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</a:t>
              </a:r>
              <a:endParaRPr lang="en-US" altLang="zh-CN" sz="2400" b="1" dirty="0">
                <a:solidFill>
                  <a:srgbClr val="1F23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4" name="Group 54"/>
          <p:cNvGrpSpPr/>
          <p:nvPr>
            <p:custDataLst>
              <p:tags r:id="rId8"/>
            </p:custDataLst>
          </p:nvPr>
        </p:nvGrpSpPr>
        <p:grpSpPr>
          <a:xfrm rot="0">
            <a:off x="8154035" y="4361815"/>
            <a:ext cx="2133600" cy="942340"/>
            <a:chOff x="5028565" y="3328670"/>
            <a:chExt cx="2133463" cy="925830"/>
          </a:xfrm>
        </p:grpSpPr>
        <p:sp>
          <p:nvSpPr>
            <p:cNvPr id="135" name="Rectangle 40"/>
            <p:cNvSpPr/>
            <p:nvPr>
              <p:custDataLst>
                <p:tags r:id="rId9"/>
              </p:custDataLst>
            </p:nvPr>
          </p:nvSpPr>
          <p:spPr>
            <a:xfrm>
              <a:off x="5028565" y="3328670"/>
              <a:ext cx="2133463" cy="649605"/>
            </a:xfrm>
            <a:prstGeom prst="roundRect">
              <a:avLst>
                <a:gd name="adj" fmla="val 4412"/>
              </a:avLst>
            </a:prstGeom>
            <a:solidFill>
              <a:srgbClr val="FAFBFC"/>
            </a:solidFill>
            <a:ln w="19050">
              <a:solidFill>
                <a:srgbClr val="00A6A6"/>
              </a:solidFill>
            </a:ln>
          </p:spPr>
        </p:sp>
        <p:grpSp>
          <p:nvGrpSpPr>
            <p:cNvPr id="136" name="Group 51"/>
            <p:cNvGrpSpPr/>
            <p:nvPr/>
          </p:nvGrpSpPr>
          <p:grpSpPr>
            <a:xfrm>
              <a:off x="5316379" y="3514884"/>
              <a:ext cx="233362" cy="233362"/>
              <a:chOff x="5316379" y="3514884"/>
              <a:chExt cx="233362" cy="233362"/>
            </a:xfrm>
          </p:grpSpPr>
          <p:sp>
            <p:nvSpPr>
              <p:cNvPr id="137" name="Freeform 41"/>
              <p:cNvSpPr/>
              <p:nvPr>
                <p:custDataLst>
                  <p:tags r:id="rId10"/>
                </p:custDataLst>
              </p:nvPr>
            </p:nvSpPr>
            <p:spPr>
              <a:xfrm>
                <a:off x="5316379" y="3514884"/>
                <a:ext cx="233362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33362">
                    <a:moveTo>
                      <a:pt x="0" y="16669"/>
                    </a:moveTo>
                    <a:cubicBezTo>
                      <a:pt x="0" y="7463"/>
                      <a:pt x="7463" y="0"/>
                      <a:pt x="16669" y="0"/>
                    </a:cubicBezTo>
                    <a:lnTo>
                      <a:pt x="216694" y="0"/>
                    </a:lnTo>
                    <a:cubicBezTo>
                      <a:pt x="225900" y="0"/>
                      <a:pt x="233362" y="7463"/>
                      <a:pt x="233362" y="16669"/>
                    </a:cubicBezTo>
                    <a:lnTo>
                      <a:pt x="233362" y="216694"/>
                    </a:lnTo>
                    <a:cubicBezTo>
                      <a:pt x="233362" y="225900"/>
                      <a:pt x="225900" y="233362"/>
                      <a:pt x="216694" y="233362"/>
                    </a:cubicBezTo>
                    <a:lnTo>
                      <a:pt x="16669" y="233362"/>
                    </a:lnTo>
                    <a:cubicBezTo>
                      <a:pt x="7463" y="233362"/>
                      <a:pt x="0" y="225900"/>
                      <a:pt x="0" y="216694"/>
                    </a:cubicBezTo>
                    <a:lnTo>
                      <a:pt x="0" y="16669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138" name="Freeform 42"/>
              <p:cNvSpPr/>
              <p:nvPr>
                <p:custDataLst>
                  <p:tags r:id="rId11"/>
                </p:custDataLst>
              </p:nvPr>
            </p:nvSpPr>
            <p:spPr>
              <a:xfrm>
                <a:off x="5388134" y="3580289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0"/>
                    </a:moveTo>
                    <a:lnTo>
                      <a:pt x="100012" y="0"/>
                    </a:lnTo>
                    <a:lnTo>
                      <a:pt x="100012" y="100012"/>
                    </a:lnTo>
                    <a:lnTo>
                      <a:pt x="0" y="10001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</p:grpSp>
        <p:sp>
          <p:nvSpPr>
            <p:cNvPr id="145" name="TextBox 52"/>
            <p:cNvSpPr txBox="1"/>
            <p:nvPr>
              <p:custDataLst>
                <p:tags r:id="rId12"/>
              </p:custDataLst>
            </p:nvPr>
          </p:nvSpPr>
          <p:spPr>
            <a:xfrm>
              <a:off x="5753131" y="3441655"/>
              <a:ext cx="914341" cy="3624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3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渲染池</a:t>
              </a:r>
              <a:endParaRPr lang="zh-CN" sz="2400" b="1" dirty="0">
                <a:solidFill>
                  <a:srgbClr val="1F23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6" name="TextBox 53"/>
            <p:cNvSpPr txBox="1"/>
            <p:nvPr/>
          </p:nvSpPr>
          <p:spPr>
            <a:xfrm>
              <a:off x="5030070" y="3977640"/>
              <a:ext cx="126992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endParaRPr lang="zh-CN" sz="1800" dirty="0">
                <a:solidFill>
                  <a:srgbClr val="5760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56" name="文本框 155"/>
          <p:cNvSpPr txBox="1"/>
          <p:nvPr/>
        </p:nvSpPr>
        <p:spPr>
          <a:xfrm>
            <a:off x="2823845" y="4789170"/>
            <a:ext cx="1094105" cy="419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Webrtc</a:t>
            </a:r>
            <a:endParaRPr lang="en-US" altLang="zh-CN" b="1"/>
          </a:p>
        </p:txBody>
      </p:sp>
      <p:grpSp>
        <p:nvGrpSpPr>
          <p:cNvPr id="159" name="Group 61"/>
          <p:cNvGrpSpPr/>
          <p:nvPr>
            <p:custDataLst>
              <p:tags r:id="rId13"/>
            </p:custDataLst>
          </p:nvPr>
        </p:nvGrpSpPr>
        <p:grpSpPr>
          <a:xfrm rot="0">
            <a:off x="8155305" y="5658485"/>
            <a:ext cx="2133600" cy="624205"/>
            <a:chOff x="8972550" y="3338195"/>
            <a:chExt cx="2133600" cy="624205"/>
          </a:xfrm>
        </p:grpSpPr>
        <p:sp>
          <p:nvSpPr>
            <p:cNvPr id="160" name="Rectangle 55"/>
            <p:cNvSpPr/>
            <p:nvPr>
              <p:custDataLst>
                <p:tags r:id="rId14"/>
              </p:custDataLst>
            </p:nvPr>
          </p:nvSpPr>
          <p:spPr>
            <a:xfrm>
              <a:off x="8972550" y="3338195"/>
              <a:ext cx="2133600" cy="623570"/>
            </a:xfrm>
            <a:prstGeom prst="roundRect">
              <a:avLst>
                <a:gd name="adj" fmla="val 4412"/>
              </a:avLst>
            </a:prstGeom>
            <a:solidFill>
              <a:srgbClr val="FAFBFC"/>
            </a:solidFill>
            <a:ln w="19050">
              <a:solidFill>
                <a:srgbClr val="00A6A6"/>
              </a:solidFill>
            </a:ln>
          </p:spPr>
        </p:sp>
        <p:grpSp>
          <p:nvGrpSpPr>
            <p:cNvPr id="161" name="Group 58"/>
            <p:cNvGrpSpPr/>
            <p:nvPr/>
          </p:nvGrpSpPr>
          <p:grpSpPr>
            <a:xfrm>
              <a:off x="9232106" y="3548062"/>
              <a:ext cx="300037" cy="200025"/>
              <a:chOff x="9232106" y="3548062"/>
              <a:chExt cx="300037" cy="200025"/>
            </a:xfrm>
          </p:grpSpPr>
          <p:sp>
            <p:nvSpPr>
              <p:cNvPr id="162" name="Freeform 56"/>
              <p:cNvSpPr/>
              <p:nvPr>
                <p:custDataLst>
                  <p:tags r:id="rId15"/>
                </p:custDataLst>
              </p:nvPr>
            </p:nvSpPr>
            <p:spPr>
              <a:xfrm>
                <a:off x="9432131" y="3574218"/>
                <a:ext cx="100012" cy="147714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47714">
                    <a:moveTo>
                      <a:pt x="0" y="40519"/>
                    </a:moveTo>
                    <a:lnTo>
                      <a:pt x="75893" y="2581"/>
                    </a:lnTo>
                    <a:cubicBezTo>
                      <a:pt x="81059" y="0"/>
                      <a:pt x="87192" y="276"/>
                      <a:pt x="92105" y="3311"/>
                    </a:cubicBezTo>
                    <a:cubicBezTo>
                      <a:pt x="97018" y="6347"/>
                      <a:pt x="100009" y="11708"/>
                      <a:pt x="100012" y="17483"/>
                    </a:cubicBezTo>
                    <a:lnTo>
                      <a:pt x="100012" y="130231"/>
                    </a:lnTo>
                    <a:cubicBezTo>
                      <a:pt x="100009" y="136005"/>
                      <a:pt x="97018" y="141367"/>
                      <a:pt x="92105" y="144402"/>
                    </a:cubicBezTo>
                    <a:cubicBezTo>
                      <a:pt x="87192" y="147437"/>
                      <a:pt x="81059" y="147714"/>
                      <a:pt x="75893" y="145132"/>
                    </a:cubicBezTo>
                    <a:lnTo>
                      <a:pt x="0" y="107194"/>
                    </a:lnTo>
                    <a:lnTo>
                      <a:pt x="0" y="40519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163" name="Freeform 57"/>
              <p:cNvSpPr/>
              <p:nvPr>
                <p:custDataLst>
                  <p:tags r:id="rId16"/>
                </p:custDataLst>
              </p:nvPr>
            </p:nvSpPr>
            <p:spPr>
              <a:xfrm>
                <a:off x="9232106" y="354806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099" y="0"/>
                      <a:pt x="200025" y="14926"/>
                      <a:pt x="200025" y="33338"/>
                    </a:cubicBezTo>
                    <a:lnTo>
                      <a:pt x="200025" y="166688"/>
                    </a:lnTo>
                    <a:cubicBezTo>
                      <a:pt x="200025" y="185099"/>
                      <a:pt x="185099" y="200025"/>
                      <a:pt x="166688" y="200025"/>
                    </a:cubicBezTo>
                    <a:lnTo>
                      <a:pt x="33338" y="200025"/>
                    </a:lnTo>
                    <a:cubicBezTo>
                      <a:pt x="14926" y="200025"/>
                      <a:pt x="0" y="185099"/>
                      <a:pt x="0" y="166688"/>
                    </a:cubicBez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</p:grpSp>
        <p:sp>
          <p:nvSpPr>
            <p:cNvPr id="164" name="TextBox 59"/>
            <p:cNvSpPr txBox="1"/>
            <p:nvPr>
              <p:custDataLst>
                <p:tags r:id="rId17"/>
              </p:custDataLst>
            </p:nvPr>
          </p:nvSpPr>
          <p:spPr>
            <a:xfrm>
              <a:off x="9675495" y="3474720"/>
              <a:ext cx="113629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3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编码池</a:t>
              </a:r>
              <a:endParaRPr lang="zh-CN" sz="2400" b="1" dirty="0">
                <a:solidFill>
                  <a:srgbClr val="1F23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70" name="左右箭头 169"/>
          <p:cNvSpPr/>
          <p:nvPr/>
        </p:nvSpPr>
        <p:spPr>
          <a:xfrm>
            <a:off x="2724785" y="5233035"/>
            <a:ext cx="1203960" cy="332105"/>
          </a:xfrm>
          <a:prstGeom prst="leftRightArrow">
            <a:avLst/>
          </a:prstGeom>
          <a:solidFill>
            <a:srgbClr val="76B9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0" name="TextBox 29"/>
          <p:cNvSpPr txBox="1"/>
          <p:nvPr/>
        </p:nvSpPr>
        <p:spPr>
          <a:xfrm>
            <a:off x="6403340" y="3787775"/>
            <a:ext cx="186842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3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云端服务</a:t>
            </a:r>
            <a:endParaRPr lang="zh-CN" sz="3000" b="1" dirty="0">
              <a:solidFill>
                <a:srgbClr val="1F23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89" name="Group 26"/>
          <p:cNvGrpSpPr/>
          <p:nvPr>
            <p:custDataLst>
              <p:tags r:id="rId18"/>
            </p:custDataLst>
          </p:nvPr>
        </p:nvGrpSpPr>
        <p:grpSpPr>
          <a:xfrm rot="0">
            <a:off x="521970" y="5342255"/>
            <a:ext cx="2052955" cy="632460"/>
            <a:chOff x="803278" y="3357831"/>
            <a:chExt cx="2053268" cy="632150"/>
          </a:xfrm>
        </p:grpSpPr>
        <p:sp>
          <p:nvSpPr>
            <p:cNvPr id="190" name="Rectangle 18"/>
            <p:cNvSpPr/>
            <p:nvPr>
              <p:custDataLst>
                <p:tags r:id="rId19"/>
              </p:custDataLst>
            </p:nvPr>
          </p:nvSpPr>
          <p:spPr>
            <a:xfrm>
              <a:off x="803278" y="3357831"/>
              <a:ext cx="2053268" cy="632150"/>
            </a:xfrm>
            <a:prstGeom prst="roundRect">
              <a:avLst>
                <a:gd name="adj" fmla="val 4412"/>
              </a:avLst>
            </a:prstGeom>
            <a:solidFill>
              <a:srgbClr val="FAFBFC"/>
            </a:solidFill>
            <a:ln w="19050">
              <a:solidFill>
                <a:srgbClr val="1F6FEB"/>
              </a:solidFill>
            </a:ln>
          </p:spPr>
        </p:sp>
        <p:grpSp>
          <p:nvGrpSpPr>
            <p:cNvPr id="191" name="Group 23"/>
            <p:cNvGrpSpPr/>
            <p:nvPr/>
          </p:nvGrpSpPr>
          <p:grpSpPr>
            <a:xfrm>
              <a:off x="1031081" y="3514725"/>
              <a:ext cx="300038" cy="276225"/>
              <a:chOff x="1031081" y="3514725"/>
              <a:chExt cx="300038" cy="276225"/>
            </a:xfrm>
          </p:grpSpPr>
          <p:sp>
            <p:nvSpPr>
              <p:cNvPr id="192" name="Freeform 19"/>
              <p:cNvSpPr/>
              <p:nvPr>
                <p:custDataLst>
                  <p:tags r:id="rId20"/>
                </p:custDataLst>
              </p:nvPr>
            </p:nvSpPr>
            <p:spPr>
              <a:xfrm>
                <a:off x="1031081" y="3514725"/>
                <a:ext cx="300038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200025">
                    <a:moveTo>
                      <a:pt x="0" y="16669"/>
                    </a:moveTo>
                    <a:cubicBezTo>
                      <a:pt x="0" y="7463"/>
                      <a:pt x="7463" y="0"/>
                      <a:pt x="16669" y="0"/>
                    </a:cubicBezTo>
                    <a:lnTo>
                      <a:pt x="283369" y="0"/>
                    </a:lnTo>
                    <a:cubicBezTo>
                      <a:pt x="292575" y="0"/>
                      <a:pt x="300038" y="7463"/>
                      <a:pt x="300038" y="16669"/>
                    </a:cubicBezTo>
                    <a:lnTo>
                      <a:pt x="300038" y="183356"/>
                    </a:lnTo>
                    <a:cubicBezTo>
                      <a:pt x="300038" y="192562"/>
                      <a:pt x="292575" y="200025"/>
                      <a:pt x="283369" y="200025"/>
                    </a:cubicBezTo>
                    <a:lnTo>
                      <a:pt x="16669" y="200025"/>
                    </a:lnTo>
                    <a:cubicBezTo>
                      <a:pt x="7463" y="200025"/>
                      <a:pt x="0" y="192562"/>
                      <a:pt x="0" y="183356"/>
                    </a:cubicBezTo>
                    <a:lnTo>
                      <a:pt x="0" y="16669"/>
                    </a:lnTo>
                  </a:path>
                </a:pathLst>
              </a:custGeom>
              <a:noFill/>
              <a:ln w="19050">
                <a:solidFill>
                  <a:srgbClr val="1F6FEB"/>
                </a:solidFill>
              </a:ln>
            </p:spPr>
          </p:sp>
          <p:sp>
            <p:nvSpPr>
              <p:cNvPr id="193" name="Freeform 20"/>
              <p:cNvSpPr/>
              <p:nvPr>
                <p:custDataLst>
                  <p:tags r:id="rId21"/>
                </p:custDataLst>
              </p:nvPr>
            </p:nvSpPr>
            <p:spPr>
              <a:xfrm>
                <a:off x="1097756" y="3781425"/>
                <a:ext cx="1666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9525">
                    <a:moveTo>
                      <a:pt x="0" y="0"/>
                    </a:move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1F6FEB"/>
                </a:solidFill>
              </a:ln>
            </p:spPr>
          </p:sp>
          <p:sp>
            <p:nvSpPr>
              <p:cNvPr id="194" name="Freeform 21"/>
              <p:cNvSpPr/>
              <p:nvPr>
                <p:custDataLst>
                  <p:tags r:id="rId22"/>
                </p:custDataLst>
              </p:nvPr>
            </p:nvSpPr>
            <p:spPr>
              <a:xfrm>
                <a:off x="1131094" y="3714750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1F6FEB"/>
                </a:solidFill>
              </a:ln>
            </p:spPr>
          </p:sp>
          <p:sp>
            <p:nvSpPr>
              <p:cNvPr id="195" name="Freeform 22"/>
              <p:cNvSpPr/>
              <p:nvPr>
                <p:custDataLst>
                  <p:tags r:id="rId23"/>
                </p:custDataLst>
              </p:nvPr>
            </p:nvSpPr>
            <p:spPr>
              <a:xfrm>
                <a:off x="1231106" y="3714750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1F6FEB"/>
                </a:solidFill>
              </a:ln>
            </p:spPr>
          </p:sp>
        </p:grpSp>
        <p:sp>
          <p:nvSpPr>
            <p:cNvPr id="196" name="TextBox 24"/>
            <p:cNvSpPr txBox="1"/>
            <p:nvPr>
              <p:custDataLst>
                <p:tags r:id="rId24"/>
              </p:custDataLst>
            </p:nvPr>
          </p:nvSpPr>
          <p:spPr>
            <a:xfrm>
              <a:off x="1474575" y="3474614"/>
              <a:ext cx="1301949" cy="3687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3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客户端</a:t>
              </a:r>
              <a:r>
                <a:rPr lang="en-US" altLang="zh-CN" sz="2400" b="1" dirty="0">
                  <a:solidFill>
                    <a:srgbClr val="1F23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</a:t>
              </a:r>
              <a:endParaRPr lang="en-US" altLang="zh-CN" sz="2400" b="1" dirty="0">
                <a:solidFill>
                  <a:srgbClr val="1F23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98" name="右箭头 197"/>
          <p:cNvSpPr/>
          <p:nvPr/>
        </p:nvSpPr>
        <p:spPr>
          <a:xfrm rot="5400000">
            <a:off x="8937625" y="5220335"/>
            <a:ext cx="596265" cy="199390"/>
          </a:xfrm>
          <a:prstGeom prst="rightArrow">
            <a:avLst/>
          </a:prstGeom>
          <a:solidFill>
            <a:srgbClr val="76B9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9" name="文本框 198"/>
          <p:cNvSpPr txBox="1"/>
          <p:nvPr/>
        </p:nvSpPr>
        <p:spPr>
          <a:xfrm>
            <a:off x="9405620" y="5130800"/>
            <a:ext cx="2990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RDMA/GDR</a:t>
            </a:r>
            <a:r>
              <a:rPr lang="en-US" altLang="zh-CN" b="1">
                <a:sym typeface="+mn-ea"/>
              </a:rPr>
              <a:t>/NVLINK</a:t>
            </a:r>
            <a:endParaRPr lang="en-US" altLang="zh-CN" b="1"/>
          </a:p>
        </p:txBody>
      </p:sp>
      <p:grpSp>
        <p:nvGrpSpPr>
          <p:cNvPr id="202" name="组合 201"/>
          <p:cNvGrpSpPr/>
          <p:nvPr/>
        </p:nvGrpSpPr>
        <p:grpSpPr>
          <a:xfrm>
            <a:off x="4042410" y="4483100"/>
            <a:ext cx="2378710" cy="1441450"/>
            <a:chOff x="6204" y="1988"/>
            <a:chExt cx="3746" cy="2270"/>
          </a:xfrm>
        </p:grpSpPr>
        <p:grpSp>
          <p:nvGrpSpPr>
            <p:cNvPr id="178" name="组合 177"/>
            <p:cNvGrpSpPr/>
            <p:nvPr/>
          </p:nvGrpSpPr>
          <p:grpSpPr>
            <a:xfrm>
              <a:off x="6204" y="1988"/>
              <a:ext cx="3747" cy="2270"/>
              <a:chOff x="8842" y="5010"/>
              <a:chExt cx="3072" cy="1894"/>
            </a:xfrm>
          </p:grpSpPr>
          <p:sp>
            <p:nvSpPr>
              <p:cNvPr id="171" name="Rectangle 23"/>
              <p:cNvSpPr/>
              <p:nvPr/>
            </p:nvSpPr>
            <p:spPr>
              <a:xfrm>
                <a:off x="8842" y="5010"/>
                <a:ext cx="3072" cy="1894"/>
              </a:xfrm>
              <a:prstGeom prst="roundRect">
                <a:avLst>
                  <a:gd name="adj" fmla="val 2308"/>
                </a:avLst>
              </a:prstGeom>
              <a:solidFill>
                <a:srgbClr val="F0F3F5"/>
              </a:solidFill>
              <a:ln w="19050">
                <a:solidFill>
                  <a:srgbClr val="00A6A6"/>
                </a:solidFill>
              </a:ln>
            </p:spPr>
          </p:sp>
          <p:sp>
            <p:nvSpPr>
              <p:cNvPr id="173" name="TextBox 24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10011" y="5067"/>
                <a:ext cx="1307" cy="4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altLang="zh-CN" sz="2400" b="1" dirty="0">
                    <a:solidFill>
                      <a:srgbClr val="1F232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proxy</a:t>
                </a:r>
                <a:endParaRPr lang="en-US" altLang="zh-CN" sz="2400" b="1" dirty="0">
                  <a:solidFill>
                    <a:srgbClr val="1F23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6" name="Freeform 24"/>
              <p:cNvSpPr/>
              <p:nvPr/>
            </p:nvSpPr>
            <p:spPr>
              <a:xfrm>
                <a:off x="9226" y="5126"/>
                <a:ext cx="540" cy="24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524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95250"/>
                    </a:lnTo>
                    <a:cubicBezTo>
                      <a:pt x="342900" y="126813"/>
                      <a:pt x="317313" y="152400"/>
                      <a:pt x="285750" y="152400"/>
                    </a:cubicBezTo>
                    <a:lnTo>
                      <a:pt x="57150" y="152400"/>
                    </a:lnTo>
                    <a:cubicBezTo>
                      <a:pt x="25587" y="152400"/>
                      <a:pt x="0" y="126813"/>
                      <a:pt x="0" y="95250"/>
                    </a:cubicBez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177" name="Freeform 25"/>
              <p:cNvSpPr/>
              <p:nvPr/>
            </p:nvSpPr>
            <p:spPr>
              <a:xfrm>
                <a:off x="9226" y="5366"/>
                <a:ext cx="540" cy="24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524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95250"/>
                    </a:lnTo>
                    <a:cubicBezTo>
                      <a:pt x="342900" y="126813"/>
                      <a:pt x="317313" y="152400"/>
                      <a:pt x="285750" y="152400"/>
                    </a:cubicBezTo>
                    <a:lnTo>
                      <a:pt x="57150" y="152400"/>
                    </a:lnTo>
                    <a:cubicBezTo>
                      <a:pt x="25587" y="152400"/>
                      <a:pt x="0" y="126813"/>
                      <a:pt x="0" y="9525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</p:grpSp>
        <p:sp>
          <p:nvSpPr>
            <p:cNvPr id="201" name="TextBox 25"/>
            <p:cNvSpPr txBox="1"/>
            <p:nvPr/>
          </p:nvSpPr>
          <p:spPr>
            <a:xfrm>
              <a:off x="6387" y="2755"/>
              <a:ext cx="3396" cy="14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dirty="0">
                  <a:solidFill>
                    <a:srgbClr val="5760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对客户端呈现</a:t>
              </a:r>
              <a:r>
                <a:rPr lang="en-US" altLang="zh-CN" dirty="0">
                  <a:solidFill>
                    <a:srgbClr val="5760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UE</a:t>
              </a:r>
              <a:endParaRPr lang="en-US" altLang="zh-CN" dirty="0">
                <a:solidFill>
                  <a:srgbClr val="5760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zh-CN" altLang="en-US" dirty="0">
                  <a:solidFill>
                    <a:srgbClr val="5760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对云端进行渲染</a:t>
              </a:r>
              <a:endParaRPr lang="zh-CN" altLang="en-US" dirty="0">
                <a:solidFill>
                  <a:srgbClr val="5760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  <a:p>
              <a:pPr algn="l"/>
              <a:r>
                <a:rPr lang="en-US" altLang="zh-CN" dirty="0">
                  <a:solidFill>
                    <a:srgbClr val="5760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/</a:t>
              </a:r>
              <a:r>
                <a:rPr lang="zh-CN" altLang="en-US" dirty="0">
                  <a:solidFill>
                    <a:srgbClr val="57606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编码调度处理</a:t>
              </a:r>
              <a:endParaRPr lang="zh-CN" altLang="en-US" dirty="0">
                <a:solidFill>
                  <a:srgbClr val="5760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03" name="左弧形箭头 20"/>
          <p:cNvSpPr/>
          <p:nvPr/>
        </p:nvSpPr>
        <p:spPr>
          <a:xfrm>
            <a:off x="6438900" y="4728845"/>
            <a:ext cx="1924050" cy="1473200"/>
          </a:xfrm>
          <a:prstGeom prst="curvedLeftArrow">
            <a:avLst>
              <a:gd name="adj1" fmla="val 12050"/>
              <a:gd name="adj2" fmla="val 50000"/>
              <a:gd name="adj3" fmla="val 1711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04" name="文本框 203"/>
          <p:cNvSpPr txBox="1"/>
          <p:nvPr/>
        </p:nvSpPr>
        <p:spPr>
          <a:xfrm>
            <a:off x="6847840" y="5115560"/>
            <a:ext cx="1229360" cy="383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Dispatch</a:t>
            </a:r>
            <a:endParaRPr lang="en-US" altLang="zh-CN" b="1"/>
          </a:p>
        </p:txBody>
      </p:sp>
      <p:sp>
        <p:nvSpPr>
          <p:cNvPr id="5" name="Rectangle 37"/>
          <p:cNvSpPr/>
          <p:nvPr/>
        </p:nvSpPr>
        <p:spPr>
          <a:xfrm>
            <a:off x="3812540" y="537845"/>
            <a:ext cx="7671435" cy="1627505"/>
          </a:xfrm>
          <a:prstGeom prst="roundRect">
            <a:avLst>
              <a:gd name="adj" fmla="val 6522"/>
            </a:avLst>
          </a:prstGeom>
          <a:solidFill>
            <a:srgbClr val="FAFBFC"/>
          </a:solidFill>
          <a:ln w="19050">
            <a:solidFill>
              <a:srgbClr val="1F6FEB"/>
            </a:solidFill>
            <a:prstDash val="lgDash"/>
          </a:ln>
        </p:spPr>
      </p:sp>
      <p:grpSp>
        <p:nvGrpSpPr>
          <p:cNvPr id="6" name="Group 26"/>
          <p:cNvGrpSpPr/>
          <p:nvPr>
            <p:custDataLst>
              <p:tags r:id="rId26"/>
            </p:custDataLst>
          </p:nvPr>
        </p:nvGrpSpPr>
        <p:grpSpPr>
          <a:xfrm rot="0">
            <a:off x="330835" y="521970"/>
            <a:ext cx="2052955" cy="632460"/>
            <a:chOff x="803278" y="3357831"/>
            <a:chExt cx="2053268" cy="632150"/>
          </a:xfrm>
        </p:grpSpPr>
        <p:sp>
          <p:nvSpPr>
            <p:cNvPr id="7" name="Rectangle 18"/>
            <p:cNvSpPr/>
            <p:nvPr>
              <p:custDataLst>
                <p:tags r:id="rId27"/>
              </p:custDataLst>
            </p:nvPr>
          </p:nvSpPr>
          <p:spPr>
            <a:xfrm>
              <a:off x="803278" y="3357831"/>
              <a:ext cx="2053268" cy="632150"/>
            </a:xfrm>
            <a:prstGeom prst="roundRect">
              <a:avLst>
                <a:gd name="adj" fmla="val 4412"/>
              </a:avLst>
            </a:prstGeom>
            <a:solidFill>
              <a:srgbClr val="FAFBFC"/>
            </a:solidFill>
            <a:ln w="19050">
              <a:solidFill>
                <a:srgbClr val="1F6FEB"/>
              </a:solidFill>
            </a:ln>
          </p:spPr>
        </p:sp>
        <p:grpSp>
          <p:nvGrpSpPr>
            <p:cNvPr id="8" name="Group 23"/>
            <p:cNvGrpSpPr/>
            <p:nvPr/>
          </p:nvGrpSpPr>
          <p:grpSpPr>
            <a:xfrm>
              <a:off x="1031081" y="3514725"/>
              <a:ext cx="300038" cy="276225"/>
              <a:chOff x="1031081" y="3514725"/>
              <a:chExt cx="300038" cy="276225"/>
            </a:xfrm>
          </p:grpSpPr>
          <p:sp>
            <p:nvSpPr>
              <p:cNvPr id="10" name="Freeform 19"/>
              <p:cNvSpPr/>
              <p:nvPr>
                <p:custDataLst>
                  <p:tags r:id="rId28"/>
                </p:custDataLst>
              </p:nvPr>
            </p:nvSpPr>
            <p:spPr>
              <a:xfrm>
                <a:off x="1031081" y="3514725"/>
                <a:ext cx="300038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200025">
                    <a:moveTo>
                      <a:pt x="0" y="16669"/>
                    </a:moveTo>
                    <a:cubicBezTo>
                      <a:pt x="0" y="7463"/>
                      <a:pt x="7463" y="0"/>
                      <a:pt x="16669" y="0"/>
                    </a:cubicBezTo>
                    <a:lnTo>
                      <a:pt x="283369" y="0"/>
                    </a:lnTo>
                    <a:cubicBezTo>
                      <a:pt x="292575" y="0"/>
                      <a:pt x="300038" y="7463"/>
                      <a:pt x="300038" y="16669"/>
                    </a:cubicBezTo>
                    <a:lnTo>
                      <a:pt x="300038" y="183356"/>
                    </a:lnTo>
                    <a:cubicBezTo>
                      <a:pt x="300038" y="192562"/>
                      <a:pt x="292575" y="200025"/>
                      <a:pt x="283369" y="200025"/>
                    </a:cubicBezTo>
                    <a:lnTo>
                      <a:pt x="16669" y="200025"/>
                    </a:lnTo>
                    <a:cubicBezTo>
                      <a:pt x="7463" y="200025"/>
                      <a:pt x="0" y="192562"/>
                      <a:pt x="0" y="183356"/>
                    </a:cubicBezTo>
                    <a:lnTo>
                      <a:pt x="0" y="16669"/>
                    </a:lnTo>
                  </a:path>
                </a:pathLst>
              </a:custGeom>
              <a:noFill/>
              <a:ln w="19050">
                <a:solidFill>
                  <a:srgbClr val="1F6FEB"/>
                </a:solidFill>
              </a:ln>
            </p:spPr>
          </p:sp>
          <p:sp>
            <p:nvSpPr>
              <p:cNvPr id="11" name="Freeform 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1097756" y="3781425"/>
                <a:ext cx="1666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9525">
                    <a:moveTo>
                      <a:pt x="0" y="0"/>
                    </a:move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1F6FEB"/>
                </a:solidFill>
              </a:ln>
            </p:spPr>
          </p:sp>
          <p:sp>
            <p:nvSpPr>
              <p:cNvPr id="12" name="Freeform 21"/>
              <p:cNvSpPr/>
              <p:nvPr>
                <p:custDataLst>
                  <p:tags r:id="rId30"/>
                </p:custDataLst>
              </p:nvPr>
            </p:nvSpPr>
            <p:spPr>
              <a:xfrm>
                <a:off x="1131094" y="3714750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1F6FEB"/>
                </a:solidFill>
              </a:ln>
            </p:spPr>
          </p:sp>
          <p:sp>
            <p:nvSpPr>
              <p:cNvPr id="13" name="Freeform 22"/>
              <p:cNvSpPr/>
              <p:nvPr>
                <p:custDataLst>
                  <p:tags r:id="rId31"/>
                </p:custDataLst>
              </p:nvPr>
            </p:nvSpPr>
            <p:spPr>
              <a:xfrm>
                <a:off x="1231106" y="3714750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1F6FEB"/>
                </a:solidFill>
              </a:ln>
            </p:spPr>
          </p:sp>
        </p:grpSp>
        <p:sp>
          <p:nvSpPr>
            <p:cNvPr id="14" name="TextBox 24"/>
            <p:cNvSpPr txBox="1"/>
            <p:nvPr>
              <p:custDataLst>
                <p:tags r:id="rId32"/>
              </p:custDataLst>
            </p:nvPr>
          </p:nvSpPr>
          <p:spPr>
            <a:xfrm>
              <a:off x="1474575" y="3474614"/>
              <a:ext cx="1301949" cy="3687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3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客户端</a:t>
              </a:r>
              <a:r>
                <a:rPr lang="en-US" altLang="zh-CN" sz="2400" b="1" dirty="0">
                  <a:solidFill>
                    <a:srgbClr val="1F23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</a:t>
              </a:r>
              <a:endParaRPr lang="en-US" altLang="zh-CN" sz="2400" b="1" dirty="0">
                <a:solidFill>
                  <a:srgbClr val="1F23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54"/>
          <p:cNvGrpSpPr/>
          <p:nvPr>
            <p:custDataLst>
              <p:tags r:id="rId33"/>
            </p:custDataLst>
          </p:nvPr>
        </p:nvGrpSpPr>
        <p:grpSpPr>
          <a:xfrm rot="0">
            <a:off x="4634865" y="1240155"/>
            <a:ext cx="2133600" cy="942340"/>
            <a:chOff x="5028565" y="3328670"/>
            <a:chExt cx="2133463" cy="925830"/>
          </a:xfrm>
        </p:grpSpPr>
        <p:sp>
          <p:nvSpPr>
            <p:cNvPr id="16" name="Rectangle 40"/>
            <p:cNvSpPr/>
            <p:nvPr>
              <p:custDataLst>
                <p:tags r:id="rId34"/>
              </p:custDataLst>
            </p:nvPr>
          </p:nvSpPr>
          <p:spPr>
            <a:xfrm>
              <a:off x="5028565" y="3328670"/>
              <a:ext cx="2133463" cy="649605"/>
            </a:xfrm>
            <a:prstGeom prst="roundRect">
              <a:avLst>
                <a:gd name="adj" fmla="val 4412"/>
              </a:avLst>
            </a:prstGeom>
            <a:solidFill>
              <a:srgbClr val="FAFBFC"/>
            </a:solidFill>
            <a:ln w="19050">
              <a:solidFill>
                <a:srgbClr val="00A6A6"/>
              </a:solidFill>
            </a:ln>
          </p:spPr>
        </p:sp>
        <p:grpSp>
          <p:nvGrpSpPr>
            <p:cNvPr id="17" name="Group 51"/>
            <p:cNvGrpSpPr/>
            <p:nvPr/>
          </p:nvGrpSpPr>
          <p:grpSpPr>
            <a:xfrm>
              <a:off x="5316379" y="3514884"/>
              <a:ext cx="233362" cy="233362"/>
              <a:chOff x="5316379" y="3514884"/>
              <a:chExt cx="233362" cy="233362"/>
            </a:xfrm>
          </p:grpSpPr>
          <p:sp>
            <p:nvSpPr>
              <p:cNvPr id="22" name="Freeform 41"/>
              <p:cNvSpPr/>
              <p:nvPr>
                <p:custDataLst>
                  <p:tags r:id="rId35"/>
                </p:custDataLst>
              </p:nvPr>
            </p:nvSpPr>
            <p:spPr>
              <a:xfrm>
                <a:off x="5316379" y="3514884"/>
                <a:ext cx="233362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33362">
                    <a:moveTo>
                      <a:pt x="0" y="16669"/>
                    </a:moveTo>
                    <a:cubicBezTo>
                      <a:pt x="0" y="7463"/>
                      <a:pt x="7463" y="0"/>
                      <a:pt x="16669" y="0"/>
                    </a:cubicBezTo>
                    <a:lnTo>
                      <a:pt x="216694" y="0"/>
                    </a:lnTo>
                    <a:cubicBezTo>
                      <a:pt x="225900" y="0"/>
                      <a:pt x="233362" y="7463"/>
                      <a:pt x="233362" y="16669"/>
                    </a:cubicBezTo>
                    <a:lnTo>
                      <a:pt x="233362" y="216694"/>
                    </a:lnTo>
                    <a:cubicBezTo>
                      <a:pt x="233362" y="225900"/>
                      <a:pt x="225900" y="233362"/>
                      <a:pt x="216694" y="233362"/>
                    </a:cubicBezTo>
                    <a:lnTo>
                      <a:pt x="16669" y="233362"/>
                    </a:lnTo>
                    <a:cubicBezTo>
                      <a:pt x="7463" y="233362"/>
                      <a:pt x="0" y="225900"/>
                      <a:pt x="0" y="216694"/>
                    </a:cubicBezTo>
                    <a:lnTo>
                      <a:pt x="0" y="16669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25" name="Freeform 42"/>
              <p:cNvSpPr/>
              <p:nvPr>
                <p:custDataLst>
                  <p:tags r:id="rId36"/>
                </p:custDataLst>
              </p:nvPr>
            </p:nvSpPr>
            <p:spPr>
              <a:xfrm>
                <a:off x="5388134" y="3580289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0"/>
                    </a:moveTo>
                    <a:lnTo>
                      <a:pt x="100012" y="0"/>
                    </a:lnTo>
                    <a:lnTo>
                      <a:pt x="100012" y="100012"/>
                    </a:lnTo>
                    <a:lnTo>
                      <a:pt x="0" y="10001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</p:grpSp>
        <p:sp>
          <p:nvSpPr>
            <p:cNvPr id="27" name="TextBox 52"/>
            <p:cNvSpPr txBox="1"/>
            <p:nvPr>
              <p:custDataLst>
                <p:tags r:id="rId37"/>
              </p:custDataLst>
            </p:nvPr>
          </p:nvSpPr>
          <p:spPr>
            <a:xfrm>
              <a:off x="5753053" y="3441591"/>
              <a:ext cx="1115623" cy="3624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altLang="zh-CN" sz="2400" b="1" dirty="0">
                  <a:solidFill>
                    <a:srgbClr val="1F23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GPU A</a:t>
              </a:r>
              <a:endParaRPr lang="en-US" altLang="zh-CN" sz="2400" b="1" dirty="0">
                <a:solidFill>
                  <a:srgbClr val="1F23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53"/>
            <p:cNvSpPr txBox="1"/>
            <p:nvPr/>
          </p:nvSpPr>
          <p:spPr>
            <a:xfrm>
              <a:off x="5030070" y="3977640"/>
              <a:ext cx="126992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endParaRPr lang="zh-CN" sz="1800" dirty="0">
                <a:solidFill>
                  <a:srgbClr val="5760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2608580" y="1166495"/>
            <a:ext cx="1094105" cy="419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Webrtc</a:t>
            </a:r>
            <a:endParaRPr lang="en-US" altLang="zh-CN" b="1"/>
          </a:p>
        </p:txBody>
      </p:sp>
      <p:sp>
        <p:nvSpPr>
          <p:cNvPr id="36" name="左右箭头 35"/>
          <p:cNvSpPr/>
          <p:nvPr/>
        </p:nvSpPr>
        <p:spPr>
          <a:xfrm>
            <a:off x="2574925" y="746125"/>
            <a:ext cx="1203960" cy="332105"/>
          </a:xfrm>
          <a:prstGeom prst="leftRightArrow">
            <a:avLst/>
          </a:prstGeom>
          <a:solidFill>
            <a:srgbClr val="76B9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TextBox 29"/>
          <p:cNvSpPr txBox="1"/>
          <p:nvPr/>
        </p:nvSpPr>
        <p:spPr>
          <a:xfrm>
            <a:off x="6212205" y="544830"/>
            <a:ext cx="186842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3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云端服务</a:t>
            </a:r>
            <a:endParaRPr lang="zh-CN" sz="3000" b="1" dirty="0">
              <a:solidFill>
                <a:srgbClr val="1F232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38" name="Group 26"/>
          <p:cNvGrpSpPr/>
          <p:nvPr>
            <p:custDataLst>
              <p:tags r:id="rId38"/>
            </p:custDataLst>
          </p:nvPr>
        </p:nvGrpSpPr>
        <p:grpSpPr>
          <a:xfrm rot="0">
            <a:off x="330835" y="1429385"/>
            <a:ext cx="2052955" cy="632460"/>
            <a:chOff x="803278" y="3357831"/>
            <a:chExt cx="2053268" cy="632150"/>
          </a:xfrm>
        </p:grpSpPr>
        <p:sp>
          <p:nvSpPr>
            <p:cNvPr id="39" name="Rectangle 18"/>
            <p:cNvSpPr/>
            <p:nvPr>
              <p:custDataLst>
                <p:tags r:id="rId39"/>
              </p:custDataLst>
            </p:nvPr>
          </p:nvSpPr>
          <p:spPr>
            <a:xfrm>
              <a:off x="803278" y="3357831"/>
              <a:ext cx="2053268" cy="632150"/>
            </a:xfrm>
            <a:prstGeom prst="roundRect">
              <a:avLst>
                <a:gd name="adj" fmla="val 4412"/>
              </a:avLst>
            </a:prstGeom>
            <a:solidFill>
              <a:srgbClr val="FAFBFC"/>
            </a:solidFill>
            <a:ln w="19050">
              <a:solidFill>
                <a:srgbClr val="1F6FEB"/>
              </a:solidFill>
            </a:ln>
          </p:spPr>
        </p:sp>
        <p:grpSp>
          <p:nvGrpSpPr>
            <p:cNvPr id="40" name="Group 23"/>
            <p:cNvGrpSpPr/>
            <p:nvPr/>
          </p:nvGrpSpPr>
          <p:grpSpPr>
            <a:xfrm>
              <a:off x="1031081" y="3514725"/>
              <a:ext cx="300038" cy="276225"/>
              <a:chOff x="1031081" y="3514725"/>
              <a:chExt cx="300038" cy="276225"/>
            </a:xfrm>
          </p:grpSpPr>
          <p:sp>
            <p:nvSpPr>
              <p:cNvPr id="41" name="Freeform 1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31081" y="3514725"/>
                <a:ext cx="300038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200025">
                    <a:moveTo>
                      <a:pt x="0" y="16669"/>
                    </a:moveTo>
                    <a:cubicBezTo>
                      <a:pt x="0" y="7463"/>
                      <a:pt x="7463" y="0"/>
                      <a:pt x="16669" y="0"/>
                    </a:cubicBezTo>
                    <a:lnTo>
                      <a:pt x="283369" y="0"/>
                    </a:lnTo>
                    <a:cubicBezTo>
                      <a:pt x="292575" y="0"/>
                      <a:pt x="300038" y="7463"/>
                      <a:pt x="300038" y="16669"/>
                    </a:cubicBezTo>
                    <a:lnTo>
                      <a:pt x="300038" y="183356"/>
                    </a:lnTo>
                    <a:cubicBezTo>
                      <a:pt x="300038" y="192562"/>
                      <a:pt x="292575" y="200025"/>
                      <a:pt x="283369" y="200025"/>
                    </a:cubicBezTo>
                    <a:lnTo>
                      <a:pt x="16669" y="200025"/>
                    </a:lnTo>
                    <a:cubicBezTo>
                      <a:pt x="7463" y="200025"/>
                      <a:pt x="0" y="192562"/>
                      <a:pt x="0" y="183356"/>
                    </a:cubicBezTo>
                    <a:lnTo>
                      <a:pt x="0" y="16669"/>
                    </a:lnTo>
                  </a:path>
                </a:pathLst>
              </a:custGeom>
              <a:noFill/>
              <a:ln w="19050">
                <a:solidFill>
                  <a:srgbClr val="1F6FEB"/>
                </a:solidFill>
              </a:ln>
            </p:spPr>
          </p:sp>
          <p:sp>
            <p:nvSpPr>
              <p:cNvPr id="42" name="Freeform 20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97756" y="3781425"/>
                <a:ext cx="1666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9525">
                    <a:moveTo>
                      <a:pt x="0" y="0"/>
                    </a:move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1F6FEB"/>
                </a:solidFill>
              </a:ln>
            </p:spPr>
          </p:sp>
          <p:sp>
            <p:nvSpPr>
              <p:cNvPr id="43" name="Freeform 21"/>
              <p:cNvSpPr/>
              <p:nvPr>
                <p:custDataLst>
                  <p:tags r:id="rId42"/>
                </p:custDataLst>
              </p:nvPr>
            </p:nvSpPr>
            <p:spPr>
              <a:xfrm>
                <a:off x="1131094" y="3714750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1F6FEB"/>
                </a:solidFill>
              </a:ln>
            </p:spPr>
          </p:sp>
          <p:sp>
            <p:nvSpPr>
              <p:cNvPr id="44" name="Freeform 22"/>
              <p:cNvSpPr/>
              <p:nvPr>
                <p:custDataLst>
                  <p:tags r:id="rId43"/>
                </p:custDataLst>
              </p:nvPr>
            </p:nvSpPr>
            <p:spPr>
              <a:xfrm>
                <a:off x="1231106" y="3714750"/>
                <a:ext cx="95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6675">
                    <a:moveTo>
                      <a:pt x="0" y="0"/>
                    </a:moveTo>
                    <a:lnTo>
                      <a:pt x="0" y="66675"/>
                    </a:lnTo>
                  </a:path>
                </a:pathLst>
              </a:custGeom>
              <a:noFill/>
              <a:ln w="19050">
                <a:solidFill>
                  <a:srgbClr val="1F6FEB"/>
                </a:solidFill>
              </a:ln>
            </p:spPr>
          </p:sp>
        </p:grpSp>
        <p:sp>
          <p:nvSpPr>
            <p:cNvPr id="45" name="TextBox 24"/>
            <p:cNvSpPr txBox="1"/>
            <p:nvPr>
              <p:custDataLst>
                <p:tags r:id="rId44"/>
              </p:custDataLst>
            </p:nvPr>
          </p:nvSpPr>
          <p:spPr>
            <a:xfrm>
              <a:off x="1474575" y="3474614"/>
              <a:ext cx="1301949" cy="3687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3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客户端</a:t>
              </a:r>
              <a:r>
                <a:rPr lang="en-US" altLang="zh-CN" sz="2400" b="1" dirty="0">
                  <a:solidFill>
                    <a:srgbClr val="1F23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</a:t>
              </a:r>
              <a:endParaRPr lang="en-US" altLang="zh-CN" sz="2400" b="1" dirty="0">
                <a:solidFill>
                  <a:srgbClr val="1F23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7" name="Group 54"/>
          <p:cNvGrpSpPr/>
          <p:nvPr>
            <p:custDataLst>
              <p:tags r:id="rId45"/>
            </p:custDataLst>
          </p:nvPr>
        </p:nvGrpSpPr>
        <p:grpSpPr>
          <a:xfrm rot="0">
            <a:off x="7597775" y="1223645"/>
            <a:ext cx="2133600" cy="942340"/>
            <a:chOff x="5028565" y="3328670"/>
            <a:chExt cx="2133463" cy="925830"/>
          </a:xfrm>
        </p:grpSpPr>
        <p:sp>
          <p:nvSpPr>
            <p:cNvPr id="58" name="Rectangle 40"/>
            <p:cNvSpPr/>
            <p:nvPr>
              <p:custDataLst>
                <p:tags r:id="rId46"/>
              </p:custDataLst>
            </p:nvPr>
          </p:nvSpPr>
          <p:spPr>
            <a:xfrm>
              <a:off x="5028565" y="3328670"/>
              <a:ext cx="2133463" cy="649605"/>
            </a:xfrm>
            <a:prstGeom prst="roundRect">
              <a:avLst>
                <a:gd name="adj" fmla="val 4412"/>
              </a:avLst>
            </a:prstGeom>
            <a:solidFill>
              <a:srgbClr val="FAFBFC"/>
            </a:solidFill>
            <a:ln w="19050">
              <a:solidFill>
                <a:srgbClr val="00A6A6"/>
              </a:solidFill>
            </a:ln>
          </p:spPr>
        </p:sp>
        <p:grpSp>
          <p:nvGrpSpPr>
            <p:cNvPr id="59" name="Group 51"/>
            <p:cNvGrpSpPr/>
            <p:nvPr/>
          </p:nvGrpSpPr>
          <p:grpSpPr>
            <a:xfrm>
              <a:off x="5316379" y="3514884"/>
              <a:ext cx="233362" cy="233362"/>
              <a:chOff x="5316379" y="3514884"/>
              <a:chExt cx="233362" cy="233362"/>
            </a:xfrm>
          </p:grpSpPr>
          <p:sp>
            <p:nvSpPr>
              <p:cNvPr id="60" name="Freeform 41"/>
              <p:cNvSpPr/>
              <p:nvPr>
                <p:custDataLst>
                  <p:tags r:id="rId47"/>
                </p:custDataLst>
              </p:nvPr>
            </p:nvSpPr>
            <p:spPr>
              <a:xfrm>
                <a:off x="5316379" y="3514884"/>
                <a:ext cx="233362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33362">
                    <a:moveTo>
                      <a:pt x="0" y="16669"/>
                    </a:moveTo>
                    <a:cubicBezTo>
                      <a:pt x="0" y="7463"/>
                      <a:pt x="7463" y="0"/>
                      <a:pt x="16669" y="0"/>
                    </a:cubicBezTo>
                    <a:lnTo>
                      <a:pt x="216694" y="0"/>
                    </a:lnTo>
                    <a:cubicBezTo>
                      <a:pt x="225900" y="0"/>
                      <a:pt x="233362" y="7463"/>
                      <a:pt x="233362" y="16669"/>
                    </a:cubicBezTo>
                    <a:lnTo>
                      <a:pt x="233362" y="216694"/>
                    </a:lnTo>
                    <a:cubicBezTo>
                      <a:pt x="233362" y="225900"/>
                      <a:pt x="225900" y="233362"/>
                      <a:pt x="216694" y="233362"/>
                    </a:cubicBezTo>
                    <a:lnTo>
                      <a:pt x="16669" y="233362"/>
                    </a:lnTo>
                    <a:cubicBezTo>
                      <a:pt x="7463" y="233362"/>
                      <a:pt x="0" y="225900"/>
                      <a:pt x="0" y="216694"/>
                    </a:cubicBezTo>
                    <a:lnTo>
                      <a:pt x="0" y="16669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  <p:sp>
            <p:nvSpPr>
              <p:cNvPr id="61" name="Freeform 42"/>
              <p:cNvSpPr/>
              <p:nvPr>
                <p:custDataLst>
                  <p:tags r:id="rId48"/>
                </p:custDataLst>
              </p:nvPr>
            </p:nvSpPr>
            <p:spPr>
              <a:xfrm>
                <a:off x="5388134" y="3580289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0"/>
                    </a:moveTo>
                    <a:lnTo>
                      <a:pt x="100012" y="0"/>
                    </a:lnTo>
                    <a:lnTo>
                      <a:pt x="100012" y="100012"/>
                    </a:lnTo>
                    <a:lnTo>
                      <a:pt x="0" y="10001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A6A6"/>
                </a:solidFill>
              </a:ln>
            </p:spPr>
          </p:sp>
        </p:grpSp>
        <p:sp>
          <p:nvSpPr>
            <p:cNvPr id="62" name="TextBox 52"/>
            <p:cNvSpPr txBox="1"/>
            <p:nvPr>
              <p:custDataLst>
                <p:tags r:id="rId49"/>
              </p:custDataLst>
            </p:nvPr>
          </p:nvSpPr>
          <p:spPr>
            <a:xfrm>
              <a:off x="5753053" y="3441591"/>
              <a:ext cx="1115623" cy="3624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altLang="zh-CN" sz="2400" b="1" dirty="0">
                  <a:solidFill>
                    <a:srgbClr val="1F23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GPU B</a:t>
              </a:r>
              <a:endParaRPr lang="en-US" altLang="zh-CN" sz="2400" b="1" dirty="0">
                <a:solidFill>
                  <a:srgbClr val="1F232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53"/>
            <p:cNvSpPr txBox="1"/>
            <p:nvPr/>
          </p:nvSpPr>
          <p:spPr>
            <a:xfrm>
              <a:off x="5030070" y="3977640"/>
              <a:ext cx="126992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endParaRPr lang="zh-CN" sz="1800" dirty="0">
                <a:solidFill>
                  <a:srgbClr val="57606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64" name="左右箭头 63"/>
          <p:cNvSpPr/>
          <p:nvPr/>
        </p:nvSpPr>
        <p:spPr>
          <a:xfrm>
            <a:off x="2574925" y="1546225"/>
            <a:ext cx="1203960" cy="332105"/>
          </a:xfrm>
          <a:prstGeom prst="leftRightArrow">
            <a:avLst/>
          </a:prstGeom>
          <a:solidFill>
            <a:srgbClr val="76B9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570865" y="2303780"/>
            <a:ext cx="10593705" cy="603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原先的架构每一个客户端对应一张卡上的渲染计算资源，并且固定</a:t>
            </a:r>
            <a:r>
              <a:rPr lang="zh-CN" altLang="en-US"/>
              <a:t>使用该卡的</a:t>
            </a:r>
            <a:r>
              <a:rPr lang="zh-CN" altLang="en-US"/>
              <a:t>编码器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2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3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4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5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6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7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8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9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10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11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12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13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14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15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16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17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18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19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20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21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22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23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24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25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26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27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28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29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30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31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32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33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34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35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36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37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38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39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40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41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42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43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44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45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46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47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48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49.xml><?xml version="1.0" encoding="utf-8"?>
<p:tagLst xmlns:p="http://schemas.openxmlformats.org/presentationml/2006/main">
  <p:tag name="KSO_WM_DIAGRAM_VIRTUALLY_FRAME" val="{&quot;height&quot;:343.7,&quot;left&quot;:54,&quot;top&quot;:76.65,&quot;width&quot;:813}"/>
</p:tagLst>
</file>

<file path=ppt/tags/tag50.xml><?xml version="1.0" encoding="utf-8"?>
<p:tagLst xmlns:p="http://schemas.openxmlformats.org/presentationml/2006/main">
  <p:tag name="COMMONDATA" val="eyJoZGlkIjoiN2NmNjFlMjkwMzZmYjE2YzMxNTVhZTJiMGQ3OGViMzYifQ=="/>
  <p:tag name="resource_record_key" val="{&quot;10&quot;:[3637539]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</Words>
  <Application>WPS 演示</Application>
  <PresentationFormat>宽屏</PresentationFormat>
  <Paragraphs>36</Paragraphs>
  <Slides>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Arial</vt:lpstr>
      <vt:lpstr>Consolas</vt:lpstr>
      <vt:lpstr>Arial Unicode MS</vt:lpstr>
      <vt:lpstr>Calibri</vt:lpstr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Meeting</dc:title>
  <dc:creator/>
  <cp:lastModifiedBy>.</cp:lastModifiedBy>
  <cp:revision>1037</cp:revision>
  <dcterms:created xsi:type="dcterms:W3CDTF">2022-12-26T07:52:00Z</dcterms:created>
  <dcterms:modified xsi:type="dcterms:W3CDTF">2026-08-22T12:05:07Z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A05D823C50584E6BAB30B6C0B2954E09_13</vt:lpwstr>
  </property>
</Properties>
</file>